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856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149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06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31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03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052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057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57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78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536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3119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864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155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020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57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406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E33BC-93C7-4F43-8F7C-2432DACFF6E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239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3CC14-4797-2529-DE93-B55668A723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AI Use Identification Workflow by HexaCorp Ltd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47609-0A2F-A7D6-BC10-DAD5B54825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3600" dirty="0"/>
              <a:t>Policy • Toolkit • Effort Rubric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01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Century Gothic" panose="020B0502020202020204" pitchFamily="34" charset="0"/>
              </a:rPr>
              <a:t>Presentation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82128"/>
            <a:ext cx="9613861" cy="3599316"/>
          </a:xfrm>
        </p:spPr>
        <p:txBody>
          <a:bodyPr/>
          <a:lstStyle/>
          <a:p>
            <a:r>
              <a:rPr dirty="0">
                <a:latin typeface="Century Gothic" panose="020B0502020202020204" pitchFamily="34" charset="0"/>
              </a:rPr>
              <a:t>Patel – Introduction</a:t>
            </a:r>
          </a:p>
          <a:p>
            <a:r>
              <a:rPr dirty="0">
                <a:latin typeface="Century Gothic" panose="020B0502020202020204" pitchFamily="34" charset="0"/>
              </a:rPr>
              <a:t>Sabitha – Workflow Overview</a:t>
            </a:r>
          </a:p>
          <a:p>
            <a:r>
              <a:rPr dirty="0" err="1">
                <a:latin typeface="Century Gothic" panose="020B0502020202020204" pitchFamily="34" charset="0"/>
              </a:rPr>
              <a:t>Bibisha</a:t>
            </a:r>
            <a:r>
              <a:rPr dirty="0">
                <a:latin typeface="Century Gothic" panose="020B0502020202020204" pitchFamily="34" charset="0"/>
              </a:rPr>
              <a:t> – Current AI Detection Methods &amp; Limitations</a:t>
            </a:r>
          </a:p>
          <a:p>
            <a:r>
              <a:rPr dirty="0">
                <a:latin typeface="Century Gothic" panose="020B0502020202020204" pitchFamily="34" charset="0"/>
              </a:rPr>
              <a:t>Elliot – Evidence Supporting Methodology</a:t>
            </a:r>
          </a:p>
          <a:p>
            <a:r>
              <a:rPr dirty="0">
                <a:latin typeface="Century Gothic" panose="020B0502020202020204" pitchFamily="34" charset="0"/>
              </a:rPr>
              <a:t>Ricardo – Ethical &amp; Legal Considerations</a:t>
            </a:r>
          </a:p>
          <a:p>
            <a:r>
              <a:rPr dirty="0">
                <a:latin typeface="Century Gothic" panose="020B0502020202020204" pitchFamily="34" charset="0"/>
              </a:rPr>
              <a:t>Jaime – Appendices Overview</a:t>
            </a:r>
          </a:p>
          <a:p>
            <a:r>
              <a:rPr dirty="0">
                <a:latin typeface="Century Gothic" panose="020B0502020202020204" pitchFamily="34" charset="0"/>
              </a:rPr>
              <a:t>Patel –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18666-C926-213D-43F6-454C3D7C8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Overview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802FEC-8352-9CF7-0DED-E0DAF27502D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2208627"/>
            <a:ext cx="8581292" cy="410776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This presentation includes:</a:t>
            </a:r>
          </a:p>
          <a:p>
            <a:pPr marL="0" indent="0">
              <a:buNone/>
            </a:pPr>
            <a:r>
              <a:rPr lang="en-US" sz="2600" dirty="0">
                <a:latin typeface="Century Gothic" panose="020B0502020202020204" pitchFamily="34" charset="0"/>
              </a:rPr>
              <a:t>• AI Use Policy &amp; Disclosure Form</a:t>
            </a:r>
          </a:p>
          <a:p>
            <a:pPr marL="0" indent="0">
              <a:buNone/>
            </a:pPr>
            <a:r>
              <a:rPr lang="en-US" sz="2600" dirty="0">
                <a:latin typeface="Century Gothic" panose="020B0502020202020204" pitchFamily="34" charset="0"/>
              </a:rPr>
              <a:t>• Marker Toolkit</a:t>
            </a:r>
          </a:p>
          <a:p>
            <a:pPr marL="0" indent="0">
              <a:buNone/>
            </a:pPr>
            <a:r>
              <a:rPr lang="en-US" sz="2600" dirty="0">
                <a:latin typeface="Century Gothic" panose="020B0502020202020204" pitchFamily="34" charset="0"/>
              </a:rPr>
              <a:t>• Effort Rubric</a:t>
            </a:r>
          </a:p>
          <a:p>
            <a:r>
              <a:rPr lang="en-IN" sz="2600" dirty="0">
                <a:latin typeface="Century Gothic" panose="020B0502020202020204" pitchFamily="34" charset="0"/>
              </a:rPr>
              <a:t>Marker Toolkit – Key Checks</a:t>
            </a:r>
          </a:p>
          <a:p>
            <a:r>
              <a:rPr lang="en-US" sz="2600" dirty="0">
                <a:latin typeface="Century Gothic" panose="020B0502020202020204" pitchFamily="34" charset="0"/>
              </a:rPr>
              <a:t>How the Effort Rubric Is Applied</a:t>
            </a:r>
          </a:p>
          <a:p>
            <a:pPr marL="0" indent="0">
              <a:buNone/>
            </a:pPr>
            <a:endParaRPr lang="en-US" dirty="0">
              <a:latin typeface="Century Gothic" panose="020B0502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These support fair identification of AI involvement.</a:t>
            </a:r>
          </a:p>
          <a:p>
            <a:r>
              <a:rPr lang="en-IN" sz="2800" dirty="0">
                <a:latin typeface="Century Gothic" panose="020B0502020202020204" pitchFamily="34" charset="0"/>
              </a:rPr>
              <a:t>Ensures transparency</a:t>
            </a:r>
          </a:p>
          <a:p>
            <a:r>
              <a:rPr lang="en-US" sz="2800" dirty="0">
                <a:latin typeface="Century Gothic" panose="020B0502020202020204" pitchFamily="34" charset="0"/>
              </a:rPr>
              <a:t>Supports fair and consistent marking</a:t>
            </a:r>
          </a:p>
          <a:p>
            <a:r>
              <a:rPr lang="en-IN" sz="2800" dirty="0">
                <a:latin typeface="Century Gothic" panose="020B0502020202020204" pitchFamily="34" charset="0"/>
              </a:rPr>
              <a:t>Maintains academic integrity</a:t>
            </a:r>
            <a:endParaRPr lang="en-US" sz="2800" dirty="0">
              <a:latin typeface="Century Gothic" panose="020B0502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81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B6F3-B6B6-B42E-B2EF-4DDF7106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AI Use Policy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07A0B-8FF2-A2AE-BB35-57163E0D9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38399"/>
            <a:ext cx="9613861" cy="35993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What the policy covers:</a:t>
            </a:r>
          </a:p>
          <a:p>
            <a:r>
              <a:rPr lang="en-US" dirty="0">
                <a:latin typeface="Century Gothic" panose="020B0502020202020204" pitchFamily="34" charset="0"/>
              </a:rPr>
              <a:t>Defines acceptable vs restricted AI use</a:t>
            </a:r>
          </a:p>
          <a:p>
            <a:r>
              <a:rPr lang="en-US" dirty="0">
                <a:latin typeface="Century Gothic" panose="020B0502020202020204" pitchFamily="34" charset="0"/>
              </a:rPr>
              <a:t>Requires transparency in assessments</a:t>
            </a:r>
          </a:p>
          <a:p>
            <a:r>
              <a:rPr lang="en-US" dirty="0">
                <a:latin typeface="Century Gothic" panose="020B0502020202020204" pitchFamily="34" charset="0"/>
              </a:rPr>
              <a:t>Outlines when disclosure is required</a:t>
            </a:r>
          </a:p>
          <a:p>
            <a:r>
              <a:rPr lang="en-US" dirty="0">
                <a:latin typeface="Century Gothic" panose="020B0502020202020204" pitchFamily="34" charset="0"/>
              </a:rPr>
              <a:t>Supports academic integrity</a:t>
            </a:r>
          </a:p>
          <a:p>
            <a:endParaRPr lang="en-IN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431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F809B-5183-5B14-2052-DB6866552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AI Disclosure Form</a:t>
            </a:r>
            <a:endParaRPr lang="en-IN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4D2DA-A832-0BD4-06FB-1CAE6907C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66534"/>
            <a:ext cx="9613861" cy="35993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What the form collects:</a:t>
            </a:r>
          </a:p>
          <a:p>
            <a:r>
              <a:rPr lang="en-US" dirty="0">
                <a:latin typeface="Century Gothic" panose="020B0502020202020204" pitchFamily="34" charset="0"/>
              </a:rPr>
              <a:t>AI tools used</a:t>
            </a:r>
          </a:p>
          <a:p>
            <a:r>
              <a:rPr lang="en-US" dirty="0">
                <a:latin typeface="Century Gothic" panose="020B0502020202020204" pitchFamily="34" charset="0"/>
              </a:rPr>
              <a:t>Purpose of use</a:t>
            </a:r>
          </a:p>
          <a:p>
            <a:r>
              <a:rPr lang="en-US" dirty="0">
                <a:latin typeface="Century Gothic" panose="020B0502020202020204" pitchFamily="34" charset="0"/>
              </a:rPr>
              <a:t>Which parts were AI-assisted</a:t>
            </a:r>
          </a:p>
          <a:p>
            <a:r>
              <a:rPr lang="en-US" dirty="0">
                <a:latin typeface="Century Gothic" panose="020B0502020202020204" pitchFamily="34" charset="0"/>
              </a:rPr>
              <a:t>Student confirmation &amp; signature</a:t>
            </a:r>
          </a:p>
          <a:p>
            <a:pPr marL="0" indent="0">
              <a:buNone/>
            </a:pPr>
            <a:endParaRPr lang="en-IN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665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DB89-9DF5-D5B7-7CF2-0B5CCAC0F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latin typeface="Century Gothic" panose="020B0502020202020204" pitchFamily="34" charset="0"/>
              </a:rPr>
              <a:t>Workflow Diagram – AI Use Identification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A3DCC6-D93F-CBFD-8847-9062EF41C7F0}"/>
              </a:ext>
            </a:extLst>
          </p:cNvPr>
          <p:cNvSpPr/>
          <p:nvPr/>
        </p:nvSpPr>
        <p:spPr>
          <a:xfrm>
            <a:off x="154745" y="222269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Start: Submission Received</a:t>
            </a:r>
          </a:p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85ACB5-AE2E-CDF3-27B8-DF13C46ACF69}"/>
              </a:ext>
            </a:extLst>
          </p:cNvPr>
          <p:cNvSpPr/>
          <p:nvPr/>
        </p:nvSpPr>
        <p:spPr>
          <a:xfrm>
            <a:off x="154745" y="384751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Check Disclosure Form</a:t>
            </a:r>
          </a:p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97448E-2D2B-8676-75B9-2AC3A86F0CFD}"/>
              </a:ext>
            </a:extLst>
          </p:cNvPr>
          <p:cNvSpPr/>
          <p:nvPr/>
        </p:nvSpPr>
        <p:spPr>
          <a:xfrm>
            <a:off x="154745" y="5176911"/>
            <a:ext cx="5092504" cy="9278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entury Gothic" panose="020B0502020202020204" pitchFamily="34" charset="0"/>
              </a:rPr>
              <a:t>Review Writing/Code Consistency</a:t>
            </a:r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B7E7A5-3C68-C1D7-8B93-4916B1E4A218}"/>
              </a:ext>
            </a:extLst>
          </p:cNvPr>
          <p:cNvSpPr/>
          <p:nvPr/>
        </p:nvSpPr>
        <p:spPr>
          <a:xfrm>
            <a:off x="6091311" y="222269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Check References &amp; Facts</a:t>
            </a:r>
          </a:p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272528-E0A5-104E-1A03-975A1AA44E2C}"/>
              </a:ext>
            </a:extLst>
          </p:cNvPr>
          <p:cNvSpPr/>
          <p:nvPr/>
        </p:nvSpPr>
        <p:spPr>
          <a:xfrm>
            <a:off x="6091311" y="384751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Review Drafts / Git Logs</a:t>
            </a: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3AB70B-CC26-3DEF-29BD-466C7DA15066}"/>
              </a:ext>
            </a:extLst>
          </p:cNvPr>
          <p:cNvSpPr/>
          <p:nvPr/>
        </p:nvSpPr>
        <p:spPr>
          <a:xfrm>
            <a:off x="6091311" y="5176911"/>
            <a:ext cx="5092504" cy="9278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entury Gothic" panose="020B0502020202020204" pitchFamily="34" charset="0"/>
              </a:rPr>
              <a:t>Decision: Accept • Monitor • Escalate</a:t>
            </a:r>
          </a:p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ADA3A9-52FF-DBFA-E070-C21FC875CAD0}"/>
              </a:ext>
            </a:extLst>
          </p:cNvPr>
          <p:cNvCxnSpPr>
            <a:stCxn id="3" idx="2"/>
          </p:cNvCxnSpPr>
          <p:nvPr/>
        </p:nvCxnSpPr>
        <p:spPr>
          <a:xfrm>
            <a:off x="2700997" y="3010485"/>
            <a:ext cx="0" cy="837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03806E-C48F-3497-7ACE-0F2EE14F0D76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700997" y="4635305"/>
            <a:ext cx="0" cy="541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FFDEAB-3BA5-8675-3EF2-A157F4768A12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247249" y="3010485"/>
            <a:ext cx="956603" cy="2630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40D0D1-6104-7585-12CF-78B5FDEEC46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8637563" y="3010485"/>
            <a:ext cx="0" cy="837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62A847-72F9-C1D8-1D6A-DD2C5810AE14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8637563" y="4635305"/>
            <a:ext cx="0" cy="541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106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AEDFA7-7B27-CE94-F6D8-A060542E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Marker Toolkit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A0E968-7498-DC7B-56A2-77F784E9B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80602"/>
            <a:ext cx="9613861" cy="35993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What toolkit includes:</a:t>
            </a:r>
          </a:p>
          <a:p>
            <a:r>
              <a:rPr lang="en-US" dirty="0">
                <a:latin typeface="Century Gothic" panose="020B0502020202020204" pitchFamily="34" charset="0"/>
              </a:rPr>
              <a:t>Decision process steps</a:t>
            </a:r>
          </a:p>
          <a:p>
            <a:r>
              <a:rPr lang="en-US" dirty="0">
                <a:latin typeface="Century Gothic" panose="020B0502020202020204" pitchFamily="34" charset="0"/>
              </a:rPr>
              <a:t>Evidence log</a:t>
            </a:r>
          </a:p>
          <a:p>
            <a:r>
              <a:rPr lang="en-US" dirty="0">
                <a:latin typeface="Century Gothic" panose="020B0502020202020204" pitchFamily="34" charset="0"/>
              </a:rPr>
              <a:t>Key indicators to check</a:t>
            </a:r>
          </a:p>
          <a:p>
            <a:r>
              <a:rPr lang="en-US" dirty="0">
                <a:latin typeface="Century Gothic" panose="020B0502020202020204" pitchFamily="34" charset="0"/>
              </a:rPr>
              <a:t>Reference verification</a:t>
            </a:r>
          </a:p>
          <a:p>
            <a:endParaRPr lang="en-IN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201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76204-B6CD-59F3-B622-DF1F4F976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Effort Rubric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5BFAE-B665-8DA3-4B51-064E16F08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07" y="2294670"/>
            <a:ext cx="9613861" cy="35993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Rubric covers:</a:t>
            </a:r>
          </a:p>
          <a:p>
            <a:r>
              <a:rPr lang="en-US" dirty="0">
                <a:latin typeface="Century Gothic" panose="020B0502020202020204" pitchFamily="34" charset="0"/>
              </a:rPr>
              <a:t>Transparency</a:t>
            </a:r>
          </a:p>
          <a:p>
            <a:r>
              <a:rPr lang="en-US" dirty="0">
                <a:latin typeface="Century Gothic" panose="020B0502020202020204" pitchFamily="34" charset="0"/>
              </a:rPr>
              <a:t>Reflection quality</a:t>
            </a:r>
          </a:p>
          <a:p>
            <a:r>
              <a:rPr lang="en-US" dirty="0">
                <a:latin typeface="Century Gothic" panose="020B0502020202020204" pitchFamily="34" charset="0"/>
              </a:rPr>
              <a:t>Independent decision-making</a:t>
            </a:r>
          </a:p>
          <a:p>
            <a:r>
              <a:rPr lang="en-US" dirty="0">
                <a:latin typeface="Century Gothic" panose="020B0502020202020204" pitchFamily="34" charset="0"/>
              </a:rPr>
              <a:t>Accuracy &amp; referencing</a:t>
            </a:r>
          </a:p>
          <a:p>
            <a:r>
              <a:rPr lang="en-US" dirty="0">
                <a:latin typeface="Century Gothic" panose="020B0502020202020204" pitchFamily="34" charset="0"/>
              </a:rPr>
              <a:t>Logical development</a:t>
            </a:r>
          </a:p>
          <a:p>
            <a:endParaRPr lang="en-IN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184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Century Gothic" panose="020B0502020202020204" pitchFamily="34" charset="0"/>
              </a:rPr>
              <a:t>Marker Toolkit – Key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9" y="2224332"/>
            <a:ext cx="9613861" cy="3599316"/>
          </a:xfrm>
        </p:spPr>
        <p:txBody>
          <a:bodyPr/>
          <a:lstStyle/>
          <a:p>
            <a:r>
              <a:rPr dirty="0">
                <a:latin typeface="Century Gothic" panose="020B0502020202020204" pitchFamily="34" charset="0"/>
              </a:rPr>
              <a:t>Writing/voice consistency</a:t>
            </a:r>
          </a:p>
          <a:p>
            <a:r>
              <a:rPr dirty="0">
                <a:latin typeface="Century Gothic" panose="020B0502020202020204" pitchFamily="34" charset="0"/>
              </a:rPr>
              <a:t>Reference accuracy</a:t>
            </a:r>
          </a:p>
          <a:p>
            <a:r>
              <a:rPr dirty="0">
                <a:latin typeface="Century Gothic" panose="020B0502020202020204" pitchFamily="34" charset="0"/>
              </a:rPr>
              <a:t>Drafts/version history</a:t>
            </a:r>
          </a:p>
          <a:p>
            <a:r>
              <a:rPr dirty="0">
                <a:latin typeface="Century Gothic" panose="020B0502020202020204" pitchFamily="34" charset="0"/>
              </a:rPr>
              <a:t>AI indicator signals</a:t>
            </a:r>
          </a:p>
          <a:p>
            <a:r>
              <a:rPr dirty="0">
                <a:latin typeface="Century Gothic" panose="020B0502020202020204" pitchFamily="34" charset="0"/>
              </a:rPr>
              <a:t>Process evidence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Century Gothic" panose="020B0502020202020204" pitchFamily="34" charset="0"/>
              </a:rPr>
              <a:t>How the Effort Rubric Is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0602"/>
            <a:ext cx="9613861" cy="3599316"/>
          </a:xfrm>
        </p:spPr>
        <p:txBody>
          <a:bodyPr/>
          <a:lstStyle/>
          <a:p>
            <a:r>
              <a:rPr dirty="0">
                <a:latin typeface="Century Gothic" panose="020B0502020202020204" pitchFamily="34" charset="0"/>
              </a:rPr>
              <a:t>Combines AI indicators + authenticity evidence</a:t>
            </a:r>
          </a:p>
          <a:p>
            <a:r>
              <a:rPr dirty="0">
                <a:latin typeface="Century Gothic" panose="020B0502020202020204" pitchFamily="34" charset="0"/>
              </a:rPr>
              <a:t>Helps markers judge real student effort</a:t>
            </a:r>
          </a:p>
          <a:p>
            <a:r>
              <a:rPr dirty="0">
                <a:latin typeface="Century Gothic" panose="020B0502020202020204" pitchFamily="34" charset="0"/>
              </a:rPr>
              <a:t>Supports fair and consistent marking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97</TotalTime>
  <Words>257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Trebuchet MS</vt:lpstr>
      <vt:lpstr>Wingdings</vt:lpstr>
      <vt:lpstr>Berlin</vt:lpstr>
      <vt:lpstr>AI Use Identification Workflow by HexaCorp Ltd</vt:lpstr>
      <vt:lpstr>Presentation Flow</vt:lpstr>
      <vt:lpstr>Overview</vt:lpstr>
      <vt:lpstr>AI Use Policy</vt:lpstr>
      <vt:lpstr>AI Disclosure Form</vt:lpstr>
      <vt:lpstr>Workflow Diagram – AI Use Identification </vt:lpstr>
      <vt:lpstr>Marker Toolkit</vt:lpstr>
      <vt:lpstr>Effort Rubric</vt:lpstr>
      <vt:lpstr>Marker Toolkit – Key Checks</vt:lpstr>
      <vt:lpstr>How the Effort Rubric Is Applied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 PATEL</dc:creator>
  <cp:lastModifiedBy>PARTH PATEL</cp:lastModifiedBy>
  <cp:revision>2</cp:revision>
  <dcterms:created xsi:type="dcterms:W3CDTF">2025-12-08T13:26:49Z</dcterms:created>
  <dcterms:modified xsi:type="dcterms:W3CDTF">2025-12-10T11:13:33Z</dcterms:modified>
</cp:coreProperties>
</file>