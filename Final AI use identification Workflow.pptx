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66" r:id="rId4"/>
    <p:sldId id="258" r:id="rId5"/>
    <p:sldId id="259" r:id="rId6"/>
    <p:sldId id="260" r:id="rId7"/>
    <p:sldId id="257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61" r:id="rId16"/>
    <p:sldId id="264" r:id="rId17"/>
    <p:sldId id="262" r:id="rId18"/>
    <p:sldId id="265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856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7149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006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314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031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71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7052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8057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578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978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5364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431198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8644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1558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0201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578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406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8E33BC-93C7-4F43-8F7C-2432DACFF6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9A5570-69CC-43AE-AB29-BFD5C86C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2390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3CC14-4797-2529-DE93-B55668A723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entury Gothic" panose="020B0502020202020204" pitchFamily="34" charset="0"/>
              </a:rPr>
              <a:t>AI Use Identification Workflow by HexaCorp Ltd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947609-0A2F-A7D6-BC10-DAD5B54825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z="3600" dirty="0"/>
              <a:t>Policy • Toolkit • Effort Rubric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1012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latin typeface="Century Gothic" panose="020B0502020202020204" pitchFamily="34" charset="0"/>
              </a:rPr>
              <a:t>Presentation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182128"/>
            <a:ext cx="9613861" cy="3599316"/>
          </a:xfrm>
        </p:spPr>
        <p:txBody>
          <a:bodyPr/>
          <a:lstStyle/>
          <a:p>
            <a:r>
              <a:rPr dirty="0">
                <a:latin typeface="Century Gothic" panose="020B0502020202020204" pitchFamily="34" charset="0"/>
              </a:rPr>
              <a:t>Patel – Introduction</a:t>
            </a:r>
          </a:p>
          <a:p>
            <a:r>
              <a:rPr dirty="0">
                <a:latin typeface="Century Gothic" panose="020B0502020202020204" pitchFamily="34" charset="0"/>
              </a:rPr>
              <a:t>Sabitha – Workflow Overview</a:t>
            </a:r>
          </a:p>
          <a:p>
            <a:r>
              <a:rPr dirty="0" err="1">
                <a:latin typeface="Century Gothic" panose="020B0502020202020204" pitchFamily="34" charset="0"/>
              </a:rPr>
              <a:t>Bibisha</a:t>
            </a:r>
            <a:r>
              <a:rPr dirty="0">
                <a:latin typeface="Century Gothic" panose="020B0502020202020204" pitchFamily="34" charset="0"/>
              </a:rPr>
              <a:t> – Current AI Detection Methods &amp; Limitations</a:t>
            </a:r>
          </a:p>
          <a:p>
            <a:r>
              <a:rPr dirty="0">
                <a:latin typeface="Century Gothic" panose="020B0502020202020204" pitchFamily="34" charset="0"/>
              </a:rPr>
              <a:t>Elliot – Evidence Supporting Methodology</a:t>
            </a:r>
          </a:p>
          <a:p>
            <a:r>
              <a:rPr dirty="0">
                <a:latin typeface="Century Gothic" panose="020B0502020202020204" pitchFamily="34" charset="0"/>
              </a:rPr>
              <a:t>Ricardo – Ethical &amp; Legal Considerations</a:t>
            </a:r>
          </a:p>
          <a:p>
            <a:r>
              <a:rPr dirty="0">
                <a:latin typeface="Century Gothic" panose="020B0502020202020204" pitchFamily="34" charset="0"/>
              </a:rPr>
              <a:t>Jaime – Appendices Overview</a:t>
            </a:r>
          </a:p>
          <a:p>
            <a:r>
              <a:rPr dirty="0">
                <a:latin typeface="Century Gothic" panose="020B0502020202020204" pitchFamily="34" charset="0"/>
              </a:rPr>
              <a:t>Patel –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5899F-8C86-D6DD-82D2-1B1B40E7C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entury Gothic" panose="020B050202020202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98A3D-E1E9-99BC-194E-ACDDC67F3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34" y="2306893"/>
            <a:ext cx="9613861" cy="3599316"/>
          </a:xfrm>
        </p:spPr>
        <p:txBody>
          <a:bodyPr/>
          <a:lstStyle/>
          <a:p>
            <a:r>
              <a:rPr lang="en-US" dirty="0">
                <a:latin typeface="Century Gothic" panose="020B0502020202020204" pitchFamily="34" charset="0"/>
              </a:rPr>
              <a:t>Purpose: Build a fair AI Use Identification Workflow</a:t>
            </a:r>
          </a:p>
          <a:p>
            <a:r>
              <a:rPr lang="en-US" dirty="0">
                <a:latin typeface="Century Gothic" panose="020B0502020202020204" pitchFamily="34" charset="0"/>
              </a:rPr>
              <a:t>Supports accurate and transparent assessment</a:t>
            </a:r>
          </a:p>
          <a:p>
            <a:r>
              <a:rPr lang="en-US" dirty="0">
                <a:latin typeface="Century Gothic" panose="020B0502020202020204" pitchFamily="34" charset="0"/>
              </a:rPr>
              <a:t>Helps markers check authenticity consistently</a:t>
            </a:r>
          </a:p>
          <a:p>
            <a:r>
              <a:rPr lang="en-US" dirty="0">
                <a:latin typeface="Century Gothic" panose="020B0502020202020204" pitchFamily="34" charset="0"/>
              </a:rPr>
              <a:t>Covers: workflow, methods, evidence, ethics, appendices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3516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4B6F3-B6B6-B42E-B2EF-4DDF71066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entury Gothic" panose="020B0502020202020204" pitchFamily="34" charset="0"/>
              </a:rPr>
              <a:t>AI Use Policy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07A0B-8FF2-A2AE-BB35-57163E0D9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38399"/>
            <a:ext cx="9613861" cy="3599316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What the policy covers:</a:t>
            </a:r>
          </a:p>
          <a:p>
            <a:r>
              <a:rPr lang="en-US" dirty="0">
                <a:latin typeface="Century Gothic" panose="020B0502020202020204" pitchFamily="34" charset="0"/>
              </a:rPr>
              <a:t>Defines acceptable vs restricted AI use</a:t>
            </a:r>
          </a:p>
          <a:p>
            <a:r>
              <a:rPr lang="en-US" dirty="0">
                <a:latin typeface="Century Gothic" panose="020B0502020202020204" pitchFamily="34" charset="0"/>
              </a:rPr>
              <a:t>Requires transparency in assessments</a:t>
            </a:r>
          </a:p>
          <a:p>
            <a:r>
              <a:rPr lang="en-US" dirty="0">
                <a:latin typeface="Century Gothic" panose="020B0502020202020204" pitchFamily="34" charset="0"/>
              </a:rPr>
              <a:t>Outlines when disclosure is required</a:t>
            </a:r>
          </a:p>
          <a:p>
            <a:r>
              <a:rPr lang="en-US" dirty="0">
                <a:latin typeface="Century Gothic" panose="020B0502020202020204" pitchFamily="34" charset="0"/>
              </a:rPr>
              <a:t>Supports academic integrity</a:t>
            </a:r>
          </a:p>
          <a:p>
            <a:endParaRPr lang="en-IN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4431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F809B-5183-5B14-2052-DB6866552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AI Disclosure Form</a:t>
            </a:r>
            <a:endParaRPr lang="en-IN" sz="4000" b="1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4D2DA-A832-0BD4-06FB-1CAE6907C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66534"/>
            <a:ext cx="9613861" cy="3599316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What the form collects:</a:t>
            </a:r>
          </a:p>
          <a:p>
            <a:r>
              <a:rPr lang="en-US" dirty="0">
                <a:latin typeface="Century Gothic" panose="020B0502020202020204" pitchFamily="34" charset="0"/>
              </a:rPr>
              <a:t>AI tools used</a:t>
            </a:r>
          </a:p>
          <a:p>
            <a:r>
              <a:rPr lang="en-US" dirty="0">
                <a:latin typeface="Century Gothic" panose="020B0502020202020204" pitchFamily="34" charset="0"/>
              </a:rPr>
              <a:t>Purpose of use</a:t>
            </a:r>
          </a:p>
          <a:p>
            <a:r>
              <a:rPr lang="en-US" dirty="0">
                <a:latin typeface="Century Gothic" panose="020B0502020202020204" pitchFamily="34" charset="0"/>
              </a:rPr>
              <a:t>Which parts were AI-assisted</a:t>
            </a:r>
          </a:p>
          <a:p>
            <a:r>
              <a:rPr lang="en-US" dirty="0">
                <a:latin typeface="Century Gothic" panose="020B0502020202020204" pitchFamily="34" charset="0"/>
              </a:rPr>
              <a:t>Student confirmation &amp; signature</a:t>
            </a:r>
          </a:p>
          <a:p>
            <a:pPr marL="0" indent="0">
              <a:buNone/>
            </a:pPr>
            <a:endParaRPr lang="en-IN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665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2DB89-9DF5-D5B7-7CF2-0B5CCAC0F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>
                <a:latin typeface="Century Gothic" panose="020B0502020202020204" pitchFamily="34" charset="0"/>
              </a:rPr>
              <a:t>Workflow Diagram – AI Use Identification</a:t>
            </a:r>
            <a:br>
              <a:rPr lang="en-US" dirty="0"/>
            </a:br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5A3DCC6-D93F-CBFD-8847-9062EF41C7F0}"/>
              </a:ext>
            </a:extLst>
          </p:cNvPr>
          <p:cNvSpPr/>
          <p:nvPr/>
        </p:nvSpPr>
        <p:spPr>
          <a:xfrm>
            <a:off x="154745" y="2222694"/>
            <a:ext cx="5092504" cy="7877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50000"/>
              </a:lnSpc>
            </a:pPr>
            <a:r>
              <a:rPr lang="en-IN" sz="2400" dirty="0">
                <a:latin typeface="Century Gothic" panose="020B0502020202020204" pitchFamily="34" charset="0"/>
              </a:rPr>
              <a:t>Start: Submission Received</a:t>
            </a:r>
          </a:p>
          <a:p>
            <a:pPr algn="ctr"/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F85ACB5-AE2E-CDF3-27B8-DF13C46ACF69}"/>
              </a:ext>
            </a:extLst>
          </p:cNvPr>
          <p:cNvSpPr/>
          <p:nvPr/>
        </p:nvSpPr>
        <p:spPr>
          <a:xfrm>
            <a:off x="154745" y="3847514"/>
            <a:ext cx="5092504" cy="7877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50000"/>
              </a:lnSpc>
            </a:pPr>
            <a:r>
              <a:rPr lang="en-IN" sz="2400" dirty="0">
                <a:latin typeface="Century Gothic" panose="020B0502020202020204" pitchFamily="34" charset="0"/>
              </a:rPr>
              <a:t>Check Disclosure Form</a:t>
            </a:r>
          </a:p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297448E-2D2B-8676-75B9-2AC3A86F0CFD}"/>
              </a:ext>
            </a:extLst>
          </p:cNvPr>
          <p:cNvSpPr/>
          <p:nvPr/>
        </p:nvSpPr>
        <p:spPr>
          <a:xfrm>
            <a:off x="154745" y="5176911"/>
            <a:ext cx="5092504" cy="9278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Century Gothic" panose="020B0502020202020204" pitchFamily="34" charset="0"/>
              </a:rPr>
              <a:t>Review Writing/Code Consistency</a:t>
            </a:r>
          </a:p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1B7E7A5-3C68-C1D7-8B93-4916B1E4A218}"/>
              </a:ext>
            </a:extLst>
          </p:cNvPr>
          <p:cNvSpPr/>
          <p:nvPr/>
        </p:nvSpPr>
        <p:spPr>
          <a:xfrm>
            <a:off x="6091311" y="2222694"/>
            <a:ext cx="5092504" cy="7877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50000"/>
              </a:lnSpc>
            </a:pPr>
            <a:r>
              <a:rPr lang="en-IN" sz="2400" dirty="0">
                <a:latin typeface="Century Gothic" panose="020B0502020202020204" pitchFamily="34" charset="0"/>
              </a:rPr>
              <a:t>Check References &amp; Facts</a:t>
            </a:r>
          </a:p>
          <a:p>
            <a:pPr algn="ctr"/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8272528-E0A5-104E-1A03-975A1AA44E2C}"/>
              </a:ext>
            </a:extLst>
          </p:cNvPr>
          <p:cNvSpPr/>
          <p:nvPr/>
        </p:nvSpPr>
        <p:spPr>
          <a:xfrm>
            <a:off x="6091311" y="3847514"/>
            <a:ext cx="5092504" cy="7877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50000"/>
              </a:lnSpc>
            </a:pPr>
            <a:r>
              <a:rPr lang="en-IN" sz="2400" dirty="0">
                <a:latin typeface="Century Gothic" panose="020B0502020202020204" pitchFamily="34" charset="0"/>
              </a:rPr>
              <a:t>Review Drafts / Git Logs</a:t>
            </a:r>
          </a:p>
          <a:p>
            <a:pPr algn="ctr"/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53AB70B-CC26-3DEF-29BD-466C7DA15066}"/>
              </a:ext>
            </a:extLst>
          </p:cNvPr>
          <p:cNvSpPr/>
          <p:nvPr/>
        </p:nvSpPr>
        <p:spPr>
          <a:xfrm>
            <a:off x="6091311" y="5176911"/>
            <a:ext cx="5092504" cy="9278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Century Gothic" panose="020B0502020202020204" pitchFamily="34" charset="0"/>
              </a:rPr>
              <a:t>Decision: Accept • Monitor • Escalate</a:t>
            </a:r>
          </a:p>
          <a:p>
            <a:pPr algn="ctr"/>
            <a:endParaRPr lang="en-I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CADA3A9-52FF-DBFA-E070-C21FC875CAD0}"/>
              </a:ext>
            </a:extLst>
          </p:cNvPr>
          <p:cNvCxnSpPr>
            <a:stCxn id="3" idx="2"/>
          </p:cNvCxnSpPr>
          <p:nvPr/>
        </p:nvCxnSpPr>
        <p:spPr>
          <a:xfrm>
            <a:off x="2700997" y="3010485"/>
            <a:ext cx="0" cy="837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503806E-C48F-3497-7ACE-0F2EE14F0D76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2700997" y="4635305"/>
            <a:ext cx="0" cy="541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CFFDEAB-3BA5-8675-3EF2-A157F4768A12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5247249" y="3010485"/>
            <a:ext cx="956603" cy="26303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540D0D1-6104-7585-12CF-78B5FDEEC46B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8637563" y="3010485"/>
            <a:ext cx="0" cy="837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962A847-72F9-C1D8-1D6A-DD2C5810AE14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8637563" y="4635305"/>
            <a:ext cx="0" cy="541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4106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18666-C926-213D-43F6-454C3D7C8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entury Gothic" panose="020B0502020202020204" pitchFamily="34" charset="0"/>
              </a:rPr>
              <a:t>Workflow Overview – Part 1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A802FEC-8352-9CF7-0DED-E0DAF27502D6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2208627"/>
            <a:ext cx="8581292" cy="410776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dirty="0">
                <a:latin typeface="Century Gothic" panose="020B0502020202020204" pitchFamily="34" charset="0"/>
              </a:rPr>
              <a:t>• AI Use Policy &amp; Disclosure Form</a:t>
            </a:r>
          </a:p>
          <a:p>
            <a:pPr marL="0" indent="0">
              <a:buNone/>
            </a:pPr>
            <a:r>
              <a:rPr lang="en-US" sz="2600" dirty="0">
                <a:latin typeface="Century Gothic" panose="020B0502020202020204" pitchFamily="34" charset="0"/>
              </a:rPr>
              <a:t>• Marker Toolkit</a:t>
            </a:r>
          </a:p>
          <a:p>
            <a:pPr marL="0" indent="0">
              <a:buNone/>
            </a:pPr>
            <a:r>
              <a:rPr lang="en-US" sz="2600" dirty="0">
                <a:latin typeface="Century Gothic" panose="020B0502020202020204" pitchFamily="34" charset="0"/>
              </a:rPr>
              <a:t>• Effort Rubric</a:t>
            </a:r>
          </a:p>
          <a:p>
            <a:r>
              <a:rPr lang="en-IN" sz="2600" dirty="0">
                <a:latin typeface="Century Gothic" panose="020B0502020202020204" pitchFamily="34" charset="0"/>
              </a:rPr>
              <a:t>Marker Toolkit – Key Checks</a:t>
            </a:r>
          </a:p>
          <a:p>
            <a:r>
              <a:rPr lang="en-US" sz="2600" dirty="0">
                <a:latin typeface="Century Gothic" panose="020B0502020202020204" pitchFamily="34" charset="0"/>
              </a:rPr>
              <a:t>How the Effort Rubric Is Applied</a:t>
            </a:r>
          </a:p>
          <a:p>
            <a:pPr marL="0" indent="0">
              <a:buNone/>
            </a:pPr>
            <a:endParaRPr lang="en-US" dirty="0">
              <a:latin typeface="Century Gothic" panose="020B050202020202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chemeClr val="bg1"/>
                </a:solidFill>
                <a:latin typeface="Century Gothic" panose="020B0502020202020204" pitchFamily="34" charset="0"/>
              </a:rPr>
              <a:t>These support fair identification of AI involvement.</a:t>
            </a:r>
          </a:p>
          <a:p>
            <a:r>
              <a:rPr lang="en-IN" sz="2800" dirty="0">
                <a:latin typeface="Century Gothic" panose="020B0502020202020204" pitchFamily="34" charset="0"/>
              </a:rPr>
              <a:t>Ensures transparency</a:t>
            </a:r>
          </a:p>
          <a:p>
            <a:r>
              <a:rPr lang="en-US" sz="2800" dirty="0">
                <a:latin typeface="Century Gothic" panose="020B0502020202020204" pitchFamily="34" charset="0"/>
              </a:rPr>
              <a:t>Supports fair and consistent marking</a:t>
            </a:r>
          </a:p>
          <a:p>
            <a:r>
              <a:rPr lang="en-IN" sz="2800" dirty="0">
                <a:latin typeface="Century Gothic" panose="020B0502020202020204" pitchFamily="34" charset="0"/>
              </a:rPr>
              <a:t>Maintains academic integrity</a:t>
            </a:r>
            <a:endParaRPr lang="en-US" sz="2800" dirty="0">
              <a:latin typeface="Century Gothic" panose="020B0502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4816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E61D-F96F-097B-00E5-E26CAB880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entury Gothic" panose="020B0502020202020204" pitchFamily="34" charset="0"/>
              </a:rPr>
              <a:t>Workflow Overview – Part 2</a:t>
            </a:r>
            <a:endParaRPr lang="en-IN" sz="4000" b="1" dirty="0">
              <a:latin typeface="Century Gothic" panose="020B0502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A8BE802-269E-6ABF-BF6D-202ABC0BA3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252335"/>
            <a:ext cx="867347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Student submits work + disclosure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Marker checks writing consistency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Toolkit used for authenticity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Rubric applied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Outcome: Accept / Monitor / Escalate</a:t>
            </a:r>
          </a:p>
        </p:txBody>
      </p:sp>
    </p:spTree>
    <p:extLst>
      <p:ext uri="{BB962C8B-B14F-4D97-AF65-F5344CB8AC3E}">
        <p14:creationId xmlns:p14="http://schemas.microsoft.com/office/powerpoint/2010/main" val="519201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6AC0D-F6FD-DD2D-C35F-B1D5654CE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entury Gothic" panose="020B0502020202020204" pitchFamily="34" charset="0"/>
              </a:rPr>
              <a:t>Current Detection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70463-C581-3AE0-5FC5-7BFF38561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76913"/>
            <a:ext cx="9613861" cy="3599316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Manual Methods</a:t>
            </a:r>
          </a:p>
          <a:p>
            <a:r>
              <a:rPr lang="en-US" dirty="0">
                <a:latin typeface="Century Gothic" panose="020B0502020202020204" pitchFamily="34" charset="0"/>
              </a:rPr>
              <a:t>Comparing past work and class performance</a:t>
            </a:r>
          </a:p>
          <a:p>
            <a:r>
              <a:rPr lang="en-US" dirty="0">
                <a:latin typeface="Century Gothic" panose="020B0502020202020204" pitchFamily="34" charset="0"/>
              </a:rPr>
              <a:t>Document history (Version Control, GitHub, Timestamps</a:t>
            </a:r>
          </a:p>
          <a:p>
            <a:r>
              <a:rPr lang="en-US" dirty="0">
                <a:latin typeface="Century Gothic" panose="020B0502020202020204" pitchFamily="34" charset="0"/>
              </a:rPr>
              <a:t>Code demo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AI-Detecting Software</a:t>
            </a:r>
          </a:p>
          <a:p>
            <a:r>
              <a:rPr lang="en-US" dirty="0"/>
              <a:t>Turnitin </a:t>
            </a:r>
          </a:p>
          <a:p>
            <a:r>
              <a:rPr lang="en-US" dirty="0"/>
              <a:t>GPT Zero</a:t>
            </a:r>
          </a:p>
          <a:p>
            <a:r>
              <a:rPr lang="en-US" dirty="0"/>
              <a:t>Originality.ai</a:t>
            </a:r>
          </a:p>
          <a:p>
            <a:endParaRPr lang="en-US" dirty="0">
              <a:latin typeface="Century Gothic" panose="020B0502020202020204" pitchFamily="34" charset="0"/>
            </a:endParaRPr>
          </a:p>
          <a:p>
            <a:endParaRPr lang="en-US" b="1" dirty="0">
              <a:latin typeface="Century Gothic" panose="020B0502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1192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56477-3E15-9276-285A-74B2C0B18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entury Gothic" panose="020B0502020202020204" pitchFamily="34" charset="0"/>
              </a:rPr>
              <a:t>Limitation</a:t>
            </a:r>
            <a:endParaRPr lang="en-IN" sz="4000" b="1" dirty="0">
              <a:latin typeface="Century Gothic" panose="020B0502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2D47413-54E0-0F81-C275-CA5AFFAA31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201530"/>
            <a:ext cx="10960052" cy="4109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Accuracy Issues (Turnitin)</a:t>
            </a:r>
          </a:p>
          <a:p>
            <a:r>
              <a:rPr lang="en-US" dirty="0">
                <a:latin typeface="Century Gothic" panose="020B0502020202020204" pitchFamily="34" charset="0"/>
              </a:rPr>
              <a:t>Stanford Study: Only 85% accurate</a:t>
            </a:r>
          </a:p>
          <a:p>
            <a:r>
              <a:rPr lang="en-US" dirty="0">
                <a:latin typeface="Century Gothic" panose="020B0502020202020204" pitchFamily="34" charset="0"/>
              </a:rPr>
              <a:t>False positive rate: 15-22%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Biasness</a:t>
            </a:r>
          </a:p>
          <a:p>
            <a:r>
              <a:rPr lang="en-US" dirty="0">
                <a:latin typeface="Century Gothic" panose="020B0502020202020204" pitchFamily="34" charset="0"/>
              </a:rPr>
              <a:t>International Students</a:t>
            </a:r>
          </a:p>
          <a:p>
            <a:r>
              <a:rPr lang="en-US" dirty="0">
                <a:latin typeface="Century Gothic" panose="020B0502020202020204" pitchFamily="34" charset="0"/>
              </a:rPr>
              <a:t>Neurodivergent students (autism, ADHD, dyslexia)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Real consequences</a:t>
            </a:r>
          </a:p>
          <a:p>
            <a:r>
              <a:rPr lang="en-US" dirty="0">
                <a:latin typeface="Century Gothic" panose="020B0502020202020204" pitchFamily="34" charset="0"/>
              </a:rPr>
              <a:t>Moira Olmsted (autism) - falsely accused despite genuine work</a:t>
            </a:r>
          </a:p>
          <a:p>
            <a:r>
              <a:rPr lang="en-US" dirty="0">
                <a:latin typeface="Century Gothic" panose="020B0502020202020204" pitchFamily="34" charset="0"/>
              </a:rPr>
              <a:t>Texas A&amp;M 2023 - Professor used ChatGPT; entire class failed (reversed)</a:t>
            </a:r>
          </a:p>
        </p:txBody>
      </p:sp>
    </p:spTree>
    <p:extLst>
      <p:ext uri="{BB962C8B-B14F-4D97-AF65-F5344CB8AC3E}">
        <p14:creationId xmlns:p14="http://schemas.microsoft.com/office/powerpoint/2010/main" val="2312399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108D6-D81A-8AEF-0771-2F9369B92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000" b="1" dirty="0">
                <a:latin typeface="Century Gothic" panose="020B0502020202020204" pitchFamily="34" charset="0"/>
              </a:rPr>
              <a:t>Evidence Supporting Methodology – Part 1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264EACF-CF9E-66E2-6E87-C62D0317B3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253869"/>
            <a:ext cx="6309741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Studies show detectors are unreliable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Process-based evaluation is better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Version history is the strongest evidence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Reference accuracy shows authenticity</a:t>
            </a:r>
          </a:p>
        </p:txBody>
      </p:sp>
    </p:spTree>
    <p:extLst>
      <p:ext uri="{BB962C8B-B14F-4D97-AF65-F5344CB8AC3E}">
        <p14:creationId xmlns:p14="http://schemas.microsoft.com/office/powerpoint/2010/main" val="1273413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1D5E1-805B-69BE-DBDA-6CE11FF21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Century Gothic" panose="020B0502020202020204" pitchFamily="34" charset="0"/>
              </a:rPr>
              <a:t>Evidence Supporting Methodology – Part 2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E03B9BE-73FF-9AB8-A629-6D580AB183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257419"/>
            <a:ext cx="5145961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Focuses on process not output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Reduces false accusations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Fair for students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Aligns with academic standards</a:t>
            </a:r>
          </a:p>
        </p:txBody>
      </p:sp>
    </p:spTree>
    <p:extLst>
      <p:ext uri="{BB962C8B-B14F-4D97-AF65-F5344CB8AC3E}">
        <p14:creationId xmlns:p14="http://schemas.microsoft.com/office/powerpoint/2010/main" val="535598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E5DE6-E1C2-C1A2-B788-8FED4A3E9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sz="4000" b="1" dirty="0">
                <a:latin typeface="Century Gothic" panose="020B0502020202020204" pitchFamily="34" charset="0"/>
              </a:rPr>
            </a:br>
            <a:r>
              <a:rPr lang="en-IN" sz="4000" b="1" dirty="0">
                <a:latin typeface="Century Gothic" panose="020B0502020202020204" pitchFamily="34" charset="0"/>
              </a:rPr>
              <a:t>Ethical Considerations</a:t>
            </a:r>
            <a:br>
              <a:rPr lang="en-IN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1F3A7A3-490D-4E98-A643-C38AD99D85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182468"/>
            <a:ext cx="434125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Fairness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Reducing bias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Protecting honest students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Encouraging transparency</a:t>
            </a:r>
          </a:p>
        </p:txBody>
      </p:sp>
    </p:spTree>
    <p:extLst>
      <p:ext uri="{BB962C8B-B14F-4D97-AF65-F5344CB8AC3E}">
        <p14:creationId xmlns:p14="http://schemas.microsoft.com/office/powerpoint/2010/main" val="8971481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F23E0-5295-7BF6-762E-9CF985C6D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entury Gothic" panose="020B0502020202020204" pitchFamily="34" charset="0"/>
              </a:rPr>
              <a:t>Legal Considerations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1A90859-A574-C8C8-CAB1-2883FCCF7D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197458"/>
            <a:ext cx="370806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GDPR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Privacy of drafts/logs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Clear communication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Consistent application</a:t>
            </a:r>
          </a:p>
        </p:txBody>
      </p:sp>
    </p:spTree>
    <p:extLst>
      <p:ext uri="{BB962C8B-B14F-4D97-AF65-F5344CB8AC3E}">
        <p14:creationId xmlns:p14="http://schemas.microsoft.com/office/powerpoint/2010/main" val="2144110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AEDFA7-7B27-CE94-F6D8-A060542E2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entury Gothic" panose="020B0502020202020204" pitchFamily="34" charset="0"/>
              </a:rPr>
              <a:t>Marker Toolkit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5A0E968-7498-DC7B-56A2-77F784E9B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80602"/>
            <a:ext cx="9613861" cy="3599316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What toolkit includes:</a:t>
            </a:r>
          </a:p>
          <a:p>
            <a:r>
              <a:rPr lang="en-US" dirty="0">
                <a:latin typeface="Century Gothic" panose="020B0502020202020204" pitchFamily="34" charset="0"/>
              </a:rPr>
              <a:t>Decision process steps</a:t>
            </a:r>
          </a:p>
          <a:p>
            <a:r>
              <a:rPr lang="en-US" dirty="0">
                <a:latin typeface="Century Gothic" panose="020B0502020202020204" pitchFamily="34" charset="0"/>
              </a:rPr>
              <a:t>Evidence log</a:t>
            </a:r>
          </a:p>
          <a:p>
            <a:r>
              <a:rPr lang="en-US" dirty="0">
                <a:latin typeface="Century Gothic" panose="020B0502020202020204" pitchFamily="34" charset="0"/>
              </a:rPr>
              <a:t>Key indicators to check</a:t>
            </a:r>
          </a:p>
          <a:p>
            <a:r>
              <a:rPr lang="en-US" dirty="0">
                <a:latin typeface="Century Gothic" panose="020B0502020202020204" pitchFamily="34" charset="0"/>
              </a:rPr>
              <a:t>Reference verification</a:t>
            </a:r>
          </a:p>
          <a:p>
            <a:endParaRPr lang="en-IN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8201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latin typeface="Century Gothic" panose="020B0502020202020204" pitchFamily="34" charset="0"/>
              </a:rPr>
              <a:t>Marker Toolkit – Key 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39" y="2224332"/>
            <a:ext cx="9613861" cy="3599316"/>
          </a:xfrm>
        </p:spPr>
        <p:txBody>
          <a:bodyPr/>
          <a:lstStyle/>
          <a:p>
            <a:r>
              <a:rPr dirty="0">
                <a:latin typeface="Century Gothic" panose="020B0502020202020204" pitchFamily="34" charset="0"/>
              </a:rPr>
              <a:t>Writing/voice consistency</a:t>
            </a:r>
          </a:p>
          <a:p>
            <a:r>
              <a:rPr dirty="0">
                <a:latin typeface="Century Gothic" panose="020B0502020202020204" pitchFamily="34" charset="0"/>
              </a:rPr>
              <a:t>Reference accuracy</a:t>
            </a:r>
          </a:p>
          <a:p>
            <a:r>
              <a:rPr dirty="0">
                <a:latin typeface="Century Gothic" panose="020B0502020202020204" pitchFamily="34" charset="0"/>
              </a:rPr>
              <a:t>Drafts/version history</a:t>
            </a:r>
          </a:p>
          <a:p>
            <a:r>
              <a:rPr dirty="0">
                <a:latin typeface="Century Gothic" panose="020B0502020202020204" pitchFamily="34" charset="0"/>
              </a:rPr>
              <a:t>AI indicator signals</a:t>
            </a:r>
          </a:p>
          <a:p>
            <a:r>
              <a:rPr dirty="0">
                <a:latin typeface="Century Gothic" panose="020B0502020202020204" pitchFamily="34" charset="0"/>
              </a:rPr>
              <a:t>Process evidence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76204-B6CD-59F3-B622-DF1F4F976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entury Gothic" panose="020B0502020202020204" pitchFamily="34" charset="0"/>
              </a:rPr>
              <a:t>Effort Rubric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5BFAE-B665-8DA3-4B51-064E16F08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07" y="2294670"/>
            <a:ext cx="9613861" cy="3599316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 Rubric covers:</a:t>
            </a:r>
          </a:p>
          <a:p>
            <a:r>
              <a:rPr lang="en-US" dirty="0">
                <a:latin typeface="Century Gothic" panose="020B0502020202020204" pitchFamily="34" charset="0"/>
              </a:rPr>
              <a:t>Transparency</a:t>
            </a:r>
          </a:p>
          <a:p>
            <a:r>
              <a:rPr lang="en-US" dirty="0">
                <a:latin typeface="Century Gothic" panose="020B0502020202020204" pitchFamily="34" charset="0"/>
              </a:rPr>
              <a:t>Reflection quality</a:t>
            </a:r>
          </a:p>
          <a:p>
            <a:r>
              <a:rPr lang="en-US" dirty="0">
                <a:latin typeface="Century Gothic" panose="020B0502020202020204" pitchFamily="34" charset="0"/>
              </a:rPr>
              <a:t>Independent decision-making</a:t>
            </a:r>
          </a:p>
          <a:p>
            <a:r>
              <a:rPr lang="en-US" dirty="0">
                <a:latin typeface="Century Gothic" panose="020B0502020202020204" pitchFamily="34" charset="0"/>
              </a:rPr>
              <a:t>Accuracy &amp; referencing</a:t>
            </a:r>
          </a:p>
          <a:p>
            <a:r>
              <a:rPr lang="en-US" dirty="0">
                <a:latin typeface="Century Gothic" panose="020B0502020202020204" pitchFamily="34" charset="0"/>
              </a:rPr>
              <a:t>Logical development</a:t>
            </a:r>
          </a:p>
          <a:p>
            <a:endParaRPr lang="en-IN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1849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latin typeface="Century Gothic" panose="020B0502020202020204" pitchFamily="34" charset="0"/>
              </a:rPr>
              <a:t>How the Effort Rubric Is Applied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280602"/>
            <a:ext cx="9613861" cy="3599316"/>
          </a:xfrm>
        </p:spPr>
        <p:txBody>
          <a:bodyPr/>
          <a:lstStyle/>
          <a:p>
            <a:r>
              <a:rPr dirty="0">
                <a:latin typeface="Century Gothic" panose="020B0502020202020204" pitchFamily="34" charset="0"/>
              </a:rPr>
              <a:t>Combines AI indicators + authenticity evidence</a:t>
            </a:r>
          </a:p>
          <a:p>
            <a:r>
              <a:rPr dirty="0">
                <a:latin typeface="Century Gothic" panose="020B0502020202020204" pitchFamily="34" charset="0"/>
              </a:rPr>
              <a:t>Helps markers judge real student effort</a:t>
            </a:r>
          </a:p>
          <a:p>
            <a:r>
              <a:rPr dirty="0">
                <a:latin typeface="Century Gothic" panose="020B0502020202020204" pitchFamily="34" charset="0"/>
              </a:rPr>
              <a:t>Supports fair and consistent marking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01855-0524-F279-F1DE-8C4982976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entury Gothic" panose="020B0502020202020204" pitchFamily="34" charset="0"/>
              </a:rPr>
              <a:t>Appendices Overview – Part 1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5E3D961-1F80-705C-8471-40FF3DCD96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195165"/>
            <a:ext cx="64008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Student guide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Staff guide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Toolkit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Evidence log</a:t>
            </a:r>
          </a:p>
        </p:txBody>
      </p:sp>
    </p:spTree>
    <p:extLst>
      <p:ext uri="{BB962C8B-B14F-4D97-AF65-F5344CB8AC3E}">
        <p14:creationId xmlns:p14="http://schemas.microsoft.com/office/powerpoint/2010/main" val="35058007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3C76C-8B11-A9BC-96F7-AEEDFD4EB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Century Gothic" panose="020B0502020202020204" pitchFamily="34" charset="0"/>
              </a:rPr>
              <a:t>Appendices Overview – </a:t>
            </a:r>
            <a:r>
              <a:rPr lang="en-IN" b="1">
                <a:latin typeface="Century Gothic" panose="020B0502020202020204" pitchFamily="34" charset="0"/>
              </a:rPr>
              <a:t>Part 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F78D0-5DB2-D5FE-4478-340968243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46932"/>
            <a:ext cx="9613861" cy="3599316"/>
          </a:xfrm>
        </p:spPr>
        <p:txBody>
          <a:bodyPr/>
          <a:lstStyle/>
          <a:p>
            <a:r>
              <a:rPr lang="en-US" dirty="0">
                <a:latin typeface="Century Gothic" panose="020B0502020202020204" pitchFamily="34" charset="0"/>
              </a:rPr>
              <a:t>Supports transparency</a:t>
            </a:r>
          </a:p>
          <a:p>
            <a:r>
              <a:rPr lang="en-US" dirty="0">
                <a:latin typeface="Century Gothic" panose="020B0502020202020204" pitchFamily="34" charset="0"/>
              </a:rPr>
              <a:t>Helps with marking consistency</a:t>
            </a:r>
          </a:p>
          <a:p>
            <a:r>
              <a:rPr lang="en-US" dirty="0">
                <a:latin typeface="Century Gothic" panose="020B0502020202020204" pitchFamily="34" charset="0"/>
              </a:rPr>
              <a:t>Improves documentation</a:t>
            </a:r>
          </a:p>
          <a:p>
            <a:r>
              <a:rPr lang="en-US" dirty="0">
                <a:latin typeface="Century Gothic" panose="020B0502020202020204" pitchFamily="34" charset="0"/>
              </a:rPr>
              <a:t>Supports fair decisions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66747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D41D3-E648-E4C6-C105-0A72C86EF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entury Gothic" panose="020B05020202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52295-AE0D-E23F-66FA-479320466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31942"/>
            <a:ext cx="9613861" cy="3599316"/>
          </a:xfrm>
        </p:spPr>
        <p:txBody>
          <a:bodyPr/>
          <a:lstStyle/>
          <a:p>
            <a:r>
              <a:rPr lang="en-US" dirty="0">
                <a:latin typeface="Century Gothic" panose="020B0502020202020204" pitchFamily="34" charset="0"/>
              </a:rPr>
              <a:t>Workflow supports fairness</a:t>
            </a:r>
          </a:p>
          <a:p>
            <a:r>
              <a:rPr lang="en-US" dirty="0">
                <a:latin typeface="Century Gothic" panose="020B0502020202020204" pitchFamily="34" charset="0"/>
              </a:rPr>
              <a:t>Helps responsible AI use</a:t>
            </a:r>
          </a:p>
          <a:p>
            <a:r>
              <a:rPr lang="en-US" dirty="0">
                <a:latin typeface="Century Gothic" panose="020B0502020202020204" pitchFamily="34" charset="0"/>
              </a:rPr>
              <a:t>Provides reliable tools</a:t>
            </a:r>
          </a:p>
          <a:p>
            <a:r>
              <a:rPr lang="en-US" dirty="0">
                <a:latin typeface="Century Gothic" panose="020B0502020202020204" pitchFamily="34" charset="0"/>
              </a:rPr>
              <a:t>Reduces dependence on AI detectors</a:t>
            </a:r>
          </a:p>
          <a:p>
            <a:r>
              <a:rPr lang="en-US" dirty="0">
                <a:latin typeface="Century Gothic" panose="020B0502020202020204" pitchFamily="34" charset="0"/>
              </a:rPr>
              <a:t>Creates consistent assessments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9486016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165</TotalTime>
  <Words>522</Words>
  <Application>Microsoft Office PowerPoint</Application>
  <PresentationFormat>Widescreen</PresentationFormat>
  <Paragraphs>130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Century Gothic</vt:lpstr>
      <vt:lpstr>Trebuchet MS</vt:lpstr>
      <vt:lpstr>Wingdings</vt:lpstr>
      <vt:lpstr>Berlin</vt:lpstr>
      <vt:lpstr>AI Use Identification Workflow by HexaCorp Ltd</vt:lpstr>
      <vt:lpstr>Presentation Flow</vt:lpstr>
      <vt:lpstr>Introduction</vt:lpstr>
      <vt:lpstr>AI Use Policy</vt:lpstr>
      <vt:lpstr>AI Disclosure Form</vt:lpstr>
      <vt:lpstr>Workflow Diagram – AI Use Identification </vt:lpstr>
      <vt:lpstr>Workflow Overview – Part 1</vt:lpstr>
      <vt:lpstr>Workflow Overview – Part 2</vt:lpstr>
      <vt:lpstr>Current Detection Methods</vt:lpstr>
      <vt:lpstr>Limitation</vt:lpstr>
      <vt:lpstr>Evidence Supporting Methodology – Part 1</vt:lpstr>
      <vt:lpstr>Evidence Supporting Methodology – Part 2</vt:lpstr>
      <vt:lpstr> Ethical Considerations </vt:lpstr>
      <vt:lpstr>Legal Considerations</vt:lpstr>
      <vt:lpstr>Marker Toolkit</vt:lpstr>
      <vt:lpstr>Marker Toolkit – Key Checks</vt:lpstr>
      <vt:lpstr>Effort Rubric</vt:lpstr>
      <vt:lpstr>How the Effort Rubric Is Applied</vt:lpstr>
      <vt:lpstr>Appendices Overview – Part 1</vt:lpstr>
      <vt:lpstr>Appendices Overview – Part 2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 PATEL</dc:creator>
  <cp:lastModifiedBy>PARTH PATEL</cp:lastModifiedBy>
  <cp:revision>7</cp:revision>
  <dcterms:created xsi:type="dcterms:W3CDTF">2025-12-08T13:26:49Z</dcterms:created>
  <dcterms:modified xsi:type="dcterms:W3CDTF">2025-12-11T08:57:00Z</dcterms:modified>
</cp:coreProperties>
</file>