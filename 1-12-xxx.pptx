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6" r:id="rId4"/>
    <p:sldId id="258" r:id="rId5"/>
    <p:sldId id="260" r:id="rId6"/>
    <p:sldId id="267" r:id="rId7"/>
    <p:sldId id="268" r:id="rId8"/>
    <p:sldId id="269" r:id="rId9"/>
    <p:sldId id="270" r:id="rId10"/>
    <p:sldId id="272" r:id="rId11"/>
    <p:sldId id="273" r:id="rId12"/>
    <p:sldId id="261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5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49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0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1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3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5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7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536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11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64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5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20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7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0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239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bcnews.com/tech/chatgpt-texas-college-instructor-backlash-rcna8488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CC14-4797-2529-DE93-B55668A72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Identification Workflow by HexaCorp Ltd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47609-0A2F-A7D6-BC10-DAD5B5482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600" dirty="0"/>
              <a:t>Policy • Toolkit • Effort Rubric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1214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Presentation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82128"/>
            <a:ext cx="9613861" cy="359931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Patel – Introduction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Sabitha – Workflow Overview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Bibisha – Current AI Detection Methods &amp; Limitations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Elliot – Evidence Supporting Methodology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Ricardo – Ethical &amp; Legal Considerations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Jaime – Appendices Overview</a:t>
            </a:r>
          </a:p>
          <a:p>
            <a:pPr>
              <a:lnSpc>
                <a:spcPct val="150000"/>
              </a:lnSpc>
            </a:pPr>
            <a:r>
              <a:rPr dirty="0">
                <a:latin typeface="Century Gothic" panose="020B0502020202020204" pitchFamily="34" charset="0"/>
              </a:rPr>
              <a:t>Patel –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E143C-7FE5-44B7-0405-F9BAFE57AB29}"/>
              </a:ext>
            </a:extLst>
          </p:cNvPr>
          <p:cNvSpPr txBox="1"/>
          <p:nvPr/>
        </p:nvSpPr>
        <p:spPr>
          <a:xfrm>
            <a:off x="1096383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899F-8C86-D6DD-82D2-1B1B40E7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8A3D-E1E9-99BC-194E-ACDDC67F3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34" y="2306893"/>
            <a:ext cx="9613861" cy="359931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Purpose: Build a fair AI Use Identification Workflow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accurate and transparent assessment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Helps markers check authenticity consistently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Covers: workflow, methods, evidence, ethics, appendices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037E8-BA7B-2E4D-7508-57F90DF49B3D}"/>
              </a:ext>
            </a:extLst>
          </p:cNvPr>
          <p:cNvSpPr txBox="1"/>
          <p:nvPr/>
        </p:nvSpPr>
        <p:spPr>
          <a:xfrm>
            <a:off x="10976286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51666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B6F3-B6B6-B42E-B2EF-4DDF7106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Policy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07A0B-8FF2-A2AE-BB35-57163E0D9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8399"/>
            <a:ext cx="9613861" cy="359931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What the policy covers: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Defines acceptable vs restricted AI use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Requires transparency in assessments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Outlines when disclosure is required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academic integrity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23676-B18E-3DC7-C913-220ABE99AE0B}"/>
              </a:ext>
            </a:extLst>
          </p:cNvPr>
          <p:cNvSpPr txBox="1"/>
          <p:nvPr/>
        </p:nvSpPr>
        <p:spPr>
          <a:xfrm>
            <a:off x="1096383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43155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DB89-9DF5-D5B7-7CF2-0B5CCAC0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Diagram – AI Use Identification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A3DCC6-D93F-CBFD-8847-9062EF41C7F0}"/>
              </a:ext>
            </a:extLst>
          </p:cNvPr>
          <p:cNvSpPr/>
          <p:nvPr/>
        </p:nvSpPr>
        <p:spPr>
          <a:xfrm>
            <a:off x="154745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Start: Submission Received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85ACB5-AE2E-CDF3-27B8-DF13C46ACF69}"/>
              </a:ext>
            </a:extLst>
          </p:cNvPr>
          <p:cNvSpPr/>
          <p:nvPr/>
        </p:nvSpPr>
        <p:spPr>
          <a:xfrm>
            <a:off x="154745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Disclosure Form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97448E-2D2B-8676-75B9-2AC3A86F0CFD}"/>
              </a:ext>
            </a:extLst>
          </p:cNvPr>
          <p:cNvSpPr/>
          <p:nvPr/>
        </p:nvSpPr>
        <p:spPr>
          <a:xfrm>
            <a:off x="154745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Review Writing/Code Consistency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B7E7A5-3C68-C1D7-8B93-4916B1E4A218}"/>
              </a:ext>
            </a:extLst>
          </p:cNvPr>
          <p:cNvSpPr/>
          <p:nvPr/>
        </p:nvSpPr>
        <p:spPr>
          <a:xfrm>
            <a:off x="6091311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References &amp; Facts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272528-E0A5-104E-1A03-975A1AA44E2C}"/>
              </a:ext>
            </a:extLst>
          </p:cNvPr>
          <p:cNvSpPr/>
          <p:nvPr/>
        </p:nvSpPr>
        <p:spPr>
          <a:xfrm>
            <a:off x="6091311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Review Drafts / Git Logs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3AB70B-CC26-3DEF-29BD-466C7DA15066}"/>
              </a:ext>
            </a:extLst>
          </p:cNvPr>
          <p:cNvSpPr/>
          <p:nvPr/>
        </p:nvSpPr>
        <p:spPr>
          <a:xfrm>
            <a:off x="6091311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Decision: Accept • Monitor • Escalate</a:t>
            </a:r>
          </a:p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ADA3A9-52FF-DBFA-E070-C21FC875CAD0}"/>
              </a:ext>
            </a:extLst>
          </p:cNvPr>
          <p:cNvCxnSpPr>
            <a:stCxn id="3" idx="2"/>
          </p:cNvCxnSpPr>
          <p:nvPr/>
        </p:nvCxnSpPr>
        <p:spPr>
          <a:xfrm>
            <a:off x="2700997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03806E-C48F-3497-7ACE-0F2EE14F0D7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700997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FFDEAB-3BA5-8675-3EF2-A157F4768A1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247249" y="3010485"/>
            <a:ext cx="956603" cy="263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40D0D1-6104-7585-12CF-78B5FDEEC46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637563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62A847-72F9-C1D8-1D6A-DD2C5810AE1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637563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1A5D69-D0C2-5BF8-0D6F-36D4E58E0F4D}"/>
              </a:ext>
            </a:extLst>
          </p:cNvPr>
          <p:cNvSpPr txBox="1"/>
          <p:nvPr/>
        </p:nvSpPr>
        <p:spPr>
          <a:xfrm>
            <a:off x="10920257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SABITHA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0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E61D-F96F-097B-00E5-E26CAB88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Overview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8BE802-269E-6ABF-BF6D-202ABC0BA3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29626"/>
            <a:ext cx="8673475" cy="4150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Student submits work + disclosure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Marker checks writing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Toolkit used for authenticity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Rubric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Outcome: Accept / Monitor / Escalate</a:t>
            </a: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GB" altLang="en-US" dirty="0"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These support fair identification of AI involvement.</a:t>
            </a:r>
          </a:p>
          <a:p>
            <a:r>
              <a:rPr lang="en-IN" sz="2400" dirty="0">
                <a:latin typeface="Century Gothic" panose="020B0502020202020204" pitchFamily="34" charset="0"/>
              </a:rPr>
              <a:t>Ensures transparency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Supports fair and consistent marking</a:t>
            </a:r>
          </a:p>
          <a:p>
            <a:r>
              <a:rPr lang="en-IN" sz="2400" dirty="0">
                <a:latin typeface="Century Gothic" panose="020B0502020202020204" pitchFamily="34" charset="0"/>
              </a:rPr>
              <a:t>Maintains academic integrity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8E77A5-B555-23A4-1C6A-6629EC3B9023}"/>
              </a:ext>
            </a:extLst>
          </p:cNvPr>
          <p:cNvSpPr txBox="1"/>
          <p:nvPr/>
        </p:nvSpPr>
        <p:spPr>
          <a:xfrm>
            <a:off x="10833100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SABITHA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2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AC0D-F6FD-DD2D-C35F-B1D5654C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Current Detection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0463-C581-3AE0-5FC5-7BFF3856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76913"/>
            <a:ext cx="9613861" cy="359931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Manual Methods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Comparing past work and class performance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Document history (Version Control, GitHub, Timestamps)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Code demo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AI-Detecting Software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Turnitin 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GPT Zero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entury Gothic" panose="020B0502020202020204" pitchFamily="34" charset="0"/>
              </a:rPr>
              <a:t>Originality.ai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b="1" dirty="0">
              <a:latin typeface="Century Gothic" panose="020B0502020202020204" pitchFamily="34" charset="0"/>
            </a:endParaRPr>
          </a:p>
          <a:p>
            <a:endParaRPr lang="en-IN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499E9-FC44-19B8-3F53-ABBCC426BED6}"/>
              </a:ext>
            </a:extLst>
          </p:cNvPr>
          <p:cNvSpPr txBox="1"/>
          <p:nvPr/>
        </p:nvSpPr>
        <p:spPr>
          <a:xfrm>
            <a:off x="10876678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BIBISHA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19200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477-3E15-9276-285A-74B2C0B1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Limitations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D47413-54E0-0F81-C275-CA5AFFAA3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79650"/>
            <a:ext cx="11642103" cy="372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Accuracy Issues (Turnitin)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Stanford Study: 85% TPR 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False Positive Rate: 15-22%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Biasness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International students</a:t>
            </a:r>
            <a:r>
              <a:rPr lang="en-US" sz="2400" baseline="30000" dirty="0">
                <a:latin typeface="Century Gothic" panose="020B0502020202020204" pitchFamily="34" charset="0"/>
              </a:rPr>
              <a:t>1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Neurodivergent students</a:t>
            </a:r>
            <a:r>
              <a:rPr lang="en-US" sz="2400" baseline="30000" dirty="0">
                <a:latin typeface="Century Gothic" panose="020B0502020202020204" pitchFamily="34" charset="0"/>
              </a:rPr>
              <a:t>2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Real consequences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Moira Olmsted</a:t>
            </a:r>
            <a:r>
              <a:rPr lang="en-US" sz="2400" baseline="30000" dirty="0">
                <a:latin typeface="Century Gothic" panose="020B0502020202020204" pitchFamily="34" charset="0"/>
              </a:rPr>
              <a:t>3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</a:p>
          <a:p>
            <a:pPr lvl="1"/>
            <a:r>
              <a:rPr lang="en-US" sz="2400" dirty="0">
                <a:latin typeface="Century Gothic" panose="020B0502020202020204" pitchFamily="34" charset="0"/>
              </a:rPr>
              <a:t>Texas A&amp;M’s Professor used ChatGPT to grade papers</a:t>
            </a:r>
            <a:r>
              <a:rPr lang="en-US" sz="2400" baseline="30000" dirty="0">
                <a:latin typeface="Century Gothic" panose="020B0502020202020204" pitchFamily="34" charset="0"/>
              </a:rPr>
              <a:t>4</a:t>
            </a:r>
            <a:r>
              <a:rPr lang="en-US" sz="2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DA18F-01F6-C9A7-8D0F-F089CE05AC21}"/>
              </a:ext>
            </a:extLst>
          </p:cNvPr>
          <p:cNvSpPr txBox="1"/>
          <p:nvPr/>
        </p:nvSpPr>
        <p:spPr>
          <a:xfrm>
            <a:off x="1083932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BIBISHA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9928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08D6-D81A-8AEF-0771-2F9369B9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In Support of Our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64EACF-CF9E-66E2-6E87-C62D0317B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176" y="2328770"/>
            <a:ext cx="7066358" cy="440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entury Gothic" panose="020B0502020202020204" pitchFamily="34" charset="0"/>
              </a:rPr>
              <a:t>Inevitability of tech innovations in education</a:t>
            </a:r>
            <a:r>
              <a:rPr lang="en-US" altLang="en-US" baseline="30000" dirty="0">
                <a:latin typeface="Century Gothic" panose="020B0502020202020204" pitchFamily="34" charset="0"/>
              </a:rPr>
              <a:t>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Potential educational outcome benefits</a:t>
            </a:r>
            <a:r>
              <a:rPr kumimoji="0" lang="en-US" altLang="en-US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6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entury Gothic" panose="020B0502020202020204" pitchFamily="34" charset="0"/>
              </a:rPr>
              <a:t>Will work to reduce false accusations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entury Gothic" panose="020B0502020202020204" pitchFamily="34" charset="0"/>
              </a:rPr>
              <a:t>Fair for students</a:t>
            </a:r>
            <a:r>
              <a:rPr lang="en-US" altLang="en-US" baseline="30000" dirty="0">
                <a:latin typeface="Century Gothic" panose="020B0502020202020204" pitchFamily="34" charset="0"/>
              </a:rPr>
              <a:t>7</a:t>
            </a:r>
            <a:endParaRPr lang="en-US" altLang="en-US" dirty="0">
              <a:latin typeface="Century Gothic" panose="020B0502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entury Gothic" panose="020B0502020202020204" pitchFamily="34" charset="0"/>
              </a:rPr>
              <a:t>Helps to uphold academic standards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2FBB9-5E21-6B0F-1585-1E21A884A2D2}"/>
              </a:ext>
            </a:extLst>
          </p:cNvPr>
          <p:cNvSpPr txBox="1"/>
          <p:nvPr/>
        </p:nvSpPr>
        <p:spPr>
          <a:xfrm>
            <a:off x="10858002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ELLIOT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1306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5DE6-E1C2-C1A2-B788-8FED4A3E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4000" b="1" dirty="0">
                <a:latin typeface="Century Gothic" panose="020B0502020202020204" pitchFamily="34" charset="0"/>
              </a:rPr>
            </a:br>
            <a:r>
              <a:rPr lang="en-IN" sz="4000" b="1" dirty="0">
                <a:latin typeface="Century Gothic" panose="020B0502020202020204" pitchFamily="34" charset="0"/>
              </a:rPr>
              <a:t>Ethical Considerations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F3A7A3-490D-4E98-A643-C38AD99D85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572777"/>
            <a:ext cx="4341253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Fairness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Reducing bias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Protecting honest students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Encouraging transparency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9BD62B-01EE-C418-8C1C-EDE3CB9F6E10}"/>
              </a:ext>
            </a:extLst>
          </p:cNvPr>
          <p:cNvSpPr txBox="1"/>
          <p:nvPr/>
        </p:nvSpPr>
        <p:spPr>
          <a:xfrm>
            <a:off x="10770845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RICARDO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14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23E0-5295-7BF6-762E-9CF985C6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Legal Considerations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A90859-A574-C8C8-CAB1-2883FCCF7D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674925"/>
            <a:ext cx="3708066" cy="2930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GDPR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Privacy of drafts/logs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Clear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Consistent 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90CC7-0796-AD26-1DA4-8534FE270E03}"/>
              </a:ext>
            </a:extLst>
          </p:cNvPr>
          <p:cNvSpPr txBox="1"/>
          <p:nvPr/>
        </p:nvSpPr>
        <p:spPr>
          <a:xfrm>
            <a:off x="10795747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RICARDO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11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EDFA7-7B27-CE94-F6D8-A060542E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Century Gothic" panose="020B0502020202020204" pitchFamily="34" charset="0"/>
              </a:rPr>
              <a:t>Appendices Overview – Part 1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A0E968-7498-DC7B-56A2-77F784E9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0602"/>
            <a:ext cx="9613861" cy="35993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toolkit includes: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AI use policy and disclosure form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Marker toolkit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Effort Rubric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Information pack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Century Gothic" panose="020B0502020202020204" pitchFamily="34" charset="0"/>
              </a:rPr>
              <a:t>Communication templates</a:t>
            </a:r>
          </a:p>
          <a:p>
            <a:pPr>
              <a:lnSpc>
                <a:spcPct val="160000"/>
              </a:lnSpc>
            </a:pPr>
            <a:endParaRPr lang="en-US" dirty="0">
              <a:latin typeface="Century Gothic" panose="020B0502020202020204" pitchFamily="34" charset="0"/>
            </a:endParaRP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C8D1C1-CD00-F86E-54C6-21BEE25438F4}"/>
              </a:ext>
            </a:extLst>
          </p:cNvPr>
          <p:cNvSpPr txBox="1"/>
          <p:nvPr/>
        </p:nvSpPr>
        <p:spPr>
          <a:xfrm>
            <a:off x="10907806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JAMIE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74722C-D6F4-D7E3-5143-916A18697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086" y="1963629"/>
            <a:ext cx="4502720" cy="490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01099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3C76C-8B11-A9BC-96F7-AEEDFD4E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entury Gothic" panose="020B0502020202020204" pitchFamily="34" charset="0"/>
              </a:rPr>
              <a:t>Appendices Overview – </a:t>
            </a:r>
            <a:r>
              <a:rPr lang="en-IN" b="1">
                <a:latin typeface="Century Gothic" panose="020B0502020202020204" pitchFamily="34" charset="0"/>
              </a:rPr>
              <a:t>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F78D0-5DB2-D5FE-4478-34096824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46932"/>
            <a:ext cx="9613861" cy="359931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transparency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Helps with marking consistency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Improves documentation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Century Gothic" panose="020B0502020202020204" pitchFamily="34" charset="0"/>
              </a:rPr>
              <a:t>Supports fair decisions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6008C-D4B8-83C5-3513-6850BDF63F35}"/>
              </a:ext>
            </a:extLst>
          </p:cNvPr>
          <p:cNvSpPr txBox="1"/>
          <p:nvPr/>
        </p:nvSpPr>
        <p:spPr>
          <a:xfrm>
            <a:off x="10889129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JAMIE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EE43B-2561-FFFE-51AD-8E780C6EC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045" y="1918579"/>
            <a:ext cx="3416549" cy="493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74775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41D3-E648-E4C6-C105-0A72C86E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52295-AE0D-E23F-66FA-47932046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1942"/>
            <a:ext cx="9613861" cy="359931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Workflow supports fairness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Helps responsible AI use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Provides reliable tools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Reduces dependence on AI detectors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entury Gothic" panose="020B0502020202020204" pitchFamily="34" charset="0"/>
              </a:rPr>
              <a:t>Creates consistent assessments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0275E-9B99-7F82-FAD5-B7F507DA7CE7}"/>
              </a:ext>
            </a:extLst>
          </p:cNvPr>
          <p:cNvSpPr txBox="1"/>
          <p:nvPr/>
        </p:nvSpPr>
        <p:spPr>
          <a:xfrm>
            <a:off x="10901580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4860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5D80-4BB2-D915-2293-6A8D565B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A4A9-A989-2440-2287-F924FF6F7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505456"/>
            <a:ext cx="9613861" cy="35993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u="sng" dirty="0">
                <a:latin typeface="Century Gothic" panose="020B0502020202020204" pitchFamily="34" charset="0"/>
                <a:hlinkClick r:id="rId2"/>
              </a:rPr>
              <a:t>https://arxiv.org/pdf/2304.02819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u="sng" dirty="0">
                <a:latin typeface="Century Gothic" panose="020B0502020202020204" pitchFamily="34" charset="0"/>
                <a:hlinkClick r:id="rId2"/>
              </a:rPr>
              <a:t>https://teaching.unl.edu/ai-exchange/challenge-ai-checkers/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u="sng" dirty="0">
                <a:latin typeface="Century Gothic" panose="020B0502020202020204" pitchFamily="34" charset="0"/>
                <a:hlinkClick r:id="rId2"/>
              </a:rPr>
              <a:t>https://opendatascience.com/ai-detectors-wrongly-accuse-students-of-cheating-sparking-controversy/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u="sng" dirty="0">
                <a:latin typeface="Century Gothic" panose="020B0502020202020204" pitchFamily="34" charset="0"/>
                <a:hlinkClick r:id="rId2"/>
              </a:rPr>
              <a:t>https://www.nbcnews.com/tech/chatgpt-texas-college-instructor-backlash-rcna84888</a:t>
            </a:r>
            <a:endParaRPr lang="en-US" sz="1600" u="sng" dirty="0">
              <a:latin typeface="Century Gothic" panose="020B0502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1600" dirty="0">
                <a:latin typeface="Century Gothic" panose="020B0502020202020204" pitchFamily="34" charset="0"/>
              </a:rPr>
              <a:t>Spies, A. R., 2010. Use of Laptops and Other Technology in the Classroom. </a:t>
            </a:r>
            <a:r>
              <a:rPr lang="en-GB" sz="1600" i="1" dirty="0">
                <a:latin typeface="Century Gothic" panose="020B0502020202020204" pitchFamily="34" charset="0"/>
              </a:rPr>
              <a:t>American Journal of Pharmaceutical Education, </a:t>
            </a:r>
            <a:r>
              <a:rPr lang="en-GB" sz="1600" dirty="0">
                <a:latin typeface="Century Gothic" panose="020B0502020202020204" pitchFamily="34" charset="0"/>
              </a:rPr>
              <a:t>74(8), p. 152.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dirty="0">
                <a:latin typeface="Century Gothic" panose="020B0502020202020204" pitchFamily="34" charset="0"/>
              </a:rPr>
              <a:t>Perera, P. &amp; </a:t>
            </a:r>
            <a:r>
              <a:rPr lang="en-GB" sz="1600" dirty="0" err="1">
                <a:latin typeface="Century Gothic" panose="020B0502020202020204" pitchFamily="34" charset="0"/>
              </a:rPr>
              <a:t>Lankathilaka</a:t>
            </a:r>
            <a:r>
              <a:rPr lang="en-GB" sz="1600" dirty="0">
                <a:latin typeface="Century Gothic" panose="020B0502020202020204" pitchFamily="34" charset="0"/>
              </a:rPr>
              <a:t>, M., 2023. AI in Higher Education: A Literature Review of ChatGPT and. </a:t>
            </a:r>
            <a:r>
              <a:rPr lang="en-GB" sz="1600" i="1" dirty="0">
                <a:latin typeface="Century Gothic" panose="020B0502020202020204" pitchFamily="34" charset="0"/>
              </a:rPr>
              <a:t>International Journal of Research and Innovation in Social Science, </a:t>
            </a:r>
            <a:r>
              <a:rPr lang="en-GB" sz="1600" dirty="0">
                <a:latin typeface="Century Gothic" panose="020B0502020202020204" pitchFamily="34" charset="0"/>
              </a:rPr>
              <a:t>7(6), pp. 307-314.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dirty="0">
                <a:latin typeface="Century Gothic" panose="020B0502020202020204" pitchFamily="34" charset="0"/>
              </a:rPr>
              <a:t>Lim, W. M. et al., 2023. Generative AI and the future of education: Ragnarök or reformation? A paradoxical perspective from management educators. </a:t>
            </a:r>
            <a:r>
              <a:rPr lang="en-GB" sz="1600" i="1" dirty="0">
                <a:latin typeface="Century Gothic" panose="020B0502020202020204" pitchFamily="34" charset="0"/>
              </a:rPr>
              <a:t>The International Journal of Management Education, </a:t>
            </a:r>
            <a:r>
              <a:rPr lang="en-GB" sz="1600" dirty="0">
                <a:latin typeface="Century Gothic" panose="020B0502020202020204" pitchFamily="34" charset="0"/>
              </a:rPr>
              <a:t>21(2), p. 100790.</a:t>
            </a:r>
          </a:p>
          <a:p>
            <a:pPr marL="457200" indent="-457200">
              <a:buFont typeface="+mj-lt"/>
              <a:buAutoNum type="arabicPeriod"/>
            </a:pPr>
            <a:endParaRPr lang="en-US" sz="1400" u="sng" dirty="0">
              <a:latin typeface="Century Gothic" panose="020B0502020202020204" pitchFamily="34" charset="0"/>
            </a:endParaRPr>
          </a:p>
          <a:p>
            <a:endParaRPr lang="en-US" sz="1400" u="sng" dirty="0">
              <a:latin typeface="Century Gothic" panose="020B0502020202020204" pitchFamily="34" charset="0"/>
            </a:endParaRPr>
          </a:p>
          <a:p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6B16A-D495-5315-791B-64E33619B63E}"/>
              </a:ext>
            </a:extLst>
          </p:cNvPr>
          <p:cNvSpPr txBox="1"/>
          <p:nvPr/>
        </p:nvSpPr>
        <p:spPr>
          <a:xfrm>
            <a:off x="10901580" y="110903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18738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298</TotalTime>
  <Words>535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Century Gothic</vt:lpstr>
      <vt:lpstr>Trebuchet MS</vt:lpstr>
      <vt:lpstr>Wingdings</vt:lpstr>
      <vt:lpstr>Berlin</vt:lpstr>
      <vt:lpstr>AI Use Identification Workflow by HexaCorp Ltd</vt:lpstr>
      <vt:lpstr>Presentation Flow</vt:lpstr>
      <vt:lpstr>Introduction</vt:lpstr>
      <vt:lpstr>AI Use Policy</vt:lpstr>
      <vt:lpstr>Workflow Diagram – AI Use Identification </vt:lpstr>
      <vt:lpstr>Workflow Overview</vt:lpstr>
      <vt:lpstr>Current Detection Methods</vt:lpstr>
      <vt:lpstr>Limitations</vt:lpstr>
      <vt:lpstr>In Support of Our Methodology</vt:lpstr>
      <vt:lpstr> Ethical Considerations </vt:lpstr>
      <vt:lpstr>Legal Considerations</vt:lpstr>
      <vt:lpstr>Appendices Overview – Part 1</vt:lpstr>
      <vt:lpstr>Appendices Overview – Part 2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Identification Workflow by HexaCorp Ltd</dc:title>
  <dc:creator>PARTH PATEL</dc:creator>
  <cp:lastModifiedBy>Elliot Burdick (CMP - Student)</cp:lastModifiedBy>
  <cp:revision>13</cp:revision>
  <dcterms:created xsi:type="dcterms:W3CDTF">2025-12-08T13:26:49Z</dcterms:created>
  <dcterms:modified xsi:type="dcterms:W3CDTF">2025-12-11T14:09:09Z</dcterms:modified>
</cp:coreProperties>
</file>